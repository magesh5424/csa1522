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D32E-FCAA-E133-7CA6-1CFC03EB5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9638B-9263-92A6-9B2B-FCBC08634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620CD-77B9-3244-BD56-C6D90BE8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A8F88-1045-F408-78AF-6E6F2155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2D7B0-5A41-2583-6C97-78C97616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15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F4D4-5AEF-7031-9CA2-4E2DF7B5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449B5-F129-68E8-3069-B33BA659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63BC0-7F1D-05AD-4989-E6A82873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1B30A-C36B-7020-7F67-2A8640BD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60399-89E7-5AEC-36E2-1EE8AF84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4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BB4A-39D4-B838-1C32-B09AB07A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7959F-5E60-3B7A-4164-3E0E082C3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047E6-B9FD-B85D-5C15-926BD9B8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0F927-4646-C0F0-CC7A-047CFD0F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9789F-2464-428B-1BEB-86BA8C9E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32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D997-EB7F-E06A-E3F1-4A7B701E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B319-ECBA-78B9-260B-3E25BEC2F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B4381-F45A-AE2B-9410-C3BB932F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6E5A3-CA93-A9EE-DE00-3674E618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5ABCD-0ED6-9BB3-7108-51846FA0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08575-3B0D-E2F1-5ED0-CB6E3D10B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094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08238-6CD1-FC84-C252-E10F794D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263AA-0F44-5F04-CB18-D078BD02F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79329-EF75-6380-16C1-21E4B1BCC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CB33E6-32AB-B74B-CA28-E52E731EB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22FCB-ACBC-F821-3979-769C5FB1A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851C4F-3756-01AC-D312-DA4E97DE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405DE-8110-5DCF-79A2-136D21C3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E3B1C7-D891-C6AB-2639-3751FF97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20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2EE4-6CC3-068E-214E-7FA3310D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D47F9-272A-7FEC-E113-271ECF969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B7157-701E-FEFE-2847-65CB6196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E33B7-F00B-E248-52EE-1E037AB4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43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20F16-47F9-B252-5144-8713C525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B9386-B08A-BCAC-EBD8-45847405D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C0BDF-1C70-6E71-617E-48231B79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9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87C7-4816-571A-AFA0-FD4CA432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D3B91-8868-8105-C9DC-AFC1AA364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BC137-BA9A-76FC-1345-643B7BA19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3CF67-4B94-17C0-EE0C-A305A5A0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734F4-1C82-25F3-4A14-3109F9442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BBEE3-EF55-14A3-8455-50D78289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1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438C-7269-1BC9-1723-3FCFB14C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E554A7-01AC-BBA1-261E-F68D6AF1D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E7A40-D5A5-0452-B5B3-5C9CF040A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B12CC-FB0E-A033-7D58-AE2DB3AD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15BAF-6973-C6EA-5835-0A9FE436D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F2053-B654-7441-BDCE-173DB835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61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B7B5-D350-2A3A-2DD5-87FC0442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49A0F-60AE-AE70-1381-B3DAEA531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0D2F7-6572-61A6-941C-57BA9D9A4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B5F6-6C28-FD57-10CA-3C199A72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A4C45-C74C-43CF-27A6-9A1CF9EF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89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8B551-89AA-8C78-C056-396D0E5F9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97377-ED5D-9EA2-7A1E-889865A4D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2DE57-7154-CCCC-C8DA-F398C456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1492-8645-20E2-D084-C91BB334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03B94-0307-744D-404C-A5E2645D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24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B7EA5-5DF8-BE93-50B8-93397BAFA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0C4B9-796E-8985-6255-708B6FE65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A279C-82B5-4458-5005-265F3FD79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CB8EB-71C8-49A7-84FB-BDBFF4F524A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7E5AC-DE0F-3041-342D-F67A72E1E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4E558-FF3D-B05C-238B-E1BF5968A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40D3D-31D9-4E04-A0E4-923DFAC84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98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5EB758-0DD4-1191-B489-5712C79F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968" y="2492896"/>
            <a:ext cx="12203968" cy="1470025"/>
          </a:xfrm>
        </p:spPr>
        <p:txBody>
          <a:bodyPr>
            <a:noAutofit/>
          </a:bodyPr>
          <a:lstStyle/>
          <a:p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Secure Multi-VM Isolation and Threat Detection System in Virtualized Environments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8E9C85-8B34-3129-98A4-ECFEDD28A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408" y="5500682"/>
            <a:ext cx="3128392" cy="1198984"/>
          </a:xfrm>
        </p:spPr>
        <p:txBody>
          <a:bodyPr>
            <a:normAutofit/>
          </a:bodyPr>
          <a:lstStyle/>
          <a:p>
            <a:pPr algn="l"/>
            <a:r>
              <a:rPr lang="en-GB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Presented by </a:t>
            </a:r>
            <a:b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Aravind</a:t>
            </a:r>
            <a: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Kumar S (19252410)</a:t>
            </a:r>
            <a:b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Brijesh</a:t>
            </a:r>
            <a: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 (1925211391)</a:t>
            </a:r>
            <a:b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Magesh</a:t>
            </a:r>
            <a: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 (192525002)</a:t>
            </a:r>
            <a:b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70EDB-4683-A213-ACB9-1F691F6CD0BA}"/>
              </a:ext>
            </a:extLst>
          </p:cNvPr>
          <p:cNvSpPr/>
          <p:nvPr/>
        </p:nvSpPr>
        <p:spPr>
          <a:xfrm>
            <a:off x="10753312" y="5684676"/>
            <a:ext cx="1800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Guided by </a:t>
            </a:r>
            <a:b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P. </a:t>
            </a:r>
            <a:r>
              <a:rPr lang="en-GB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Rajaram</a:t>
            </a:r>
            <a:br>
              <a:rPr lang="en-GB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09EEE3-00C5-36C8-A5A6-53FF21CDE879}"/>
              </a:ext>
            </a:extLst>
          </p:cNvPr>
          <p:cNvSpPr/>
          <p:nvPr/>
        </p:nvSpPr>
        <p:spPr>
          <a:xfrm>
            <a:off x="-11968" y="4086364"/>
            <a:ext cx="12203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Times New Roman" pitchFamily="18" charset="0"/>
                <a:cs typeface="Times New Roman" pitchFamily="18" charset="0"/>
              </a:rPr>
              <a:t>CSA 1522 – Cloud Computing and Big Data Analytics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9CA7C379-68D6-58F7-C46D-3689CF63C8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104" y="432107"/>
            <a:ext cx="1043602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34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DF7595-2A11-466F-FDFA-0762AF28396A}"/>
              </a:ext>
            </a:extLst>
          </p:cNvPr>
          <p:cNvSpPr txBox="1">
            <a:spLocks/>
          </p:cNvSpPr>
          <p:nvPr/>
        </p:nvSpPr>
        <p:spPr>
          <a:xfrm>
            <a:off x="0" y="603504"/>
            <a:ext cx="121920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Problem</a:t>
            </a:r>
            <a:r>
              <a:rPr lang="en-IN" sz="3600" b="1" dirty="0"/>
              <a:t> </a:t>
            </a:r>
            <a:r>
              <a:rPr lang="en-IN" b="1" dirty="0"/>
              <a:t>Statement</a:t>
            </a:r>
            <a:endParaRPr lang="en-IN" sz="36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146C5EF-5532-32E5-1856-A38BCD5DAC37}"/>
              </a:ext>
            </a:extLst>
          </p:cNvPr>
          <p:cNvSpPr txBox="1">
            <a:spLocks/>
          </p:cNvSpPr>
          <p:nvPr/>
        </p:nvSpPr>
        <p:spPr>
          <a:xfrm>
            <a:off x="1882576" y="2327168"/>
            <a:ext cx="7920880" cy="3479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Virtualized environments allow multiple Virtual Machines (VMs) to share the same physical hardware through a hypervisor. Although virtualization improves resource utilization, it also introduces security risks such as: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VM Escape attacks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Side-channel attacks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Unauthorized inter-VM communication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Hypervisor vulnerabilities </a:t>
            </a:r>
          </a:p>
          <a:p>
            <a:pPr marL="0"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	Traditional security solutions mainly protect individual VMs and often fail to detect attacks occurring at the virtualization layer.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CC1D8-03C9-8333-199D-B78EF178F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A0B8B1-B37D-8E31-29D8-6C5854387B1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7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DE55E0-4120-4A32-842C-678EAA85C30D}"/>
              </a:ext>
            </a:extLst>
          </p:cNvPr>
          <p:cNvSpPr txBox="1">
            <a:spLocks/>
          </p:cNvSpPr>
          <p:nvPr/>
        </p:nvSpPr>
        <p:spPr>
          <a:xfrm>
            <a:off x="0" y="548680"/>
            <a:ext cx="12192000" cy="1035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Objectives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CCB2E6-DA26-8FC5-3486-BDD12A163651}"/>
              </a:ext>
            </a:extLst>
          </p:cNvPr>
          <p:cNvSpPr txBox="1">
            <a:spLocks/>
          </p:cNvSpPr>
          <p:nvPr/>
        </p:nvSpPr>
        <p:spPr>
          <a:xfrm>
            <a:off x="2249480" y="2470040"/>
            <a:ext cx="7992888" cy="2664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Improve isolation between virtual machines. </a:t>
            </a:r>
          </a:p>
          <a:p>
            <a:pPr marL="571500" indent="-571500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Detect suspicious activities at the hypervisor level.</a:t>
            </a:r>
          </a:p>
          <a:p>
            <a:pPr marL="571500" indent="-571500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Prevent cross-VM attacks before they spread.</a:t>
            </a:r>
          </a:p>
          <a:p>
            <a:pPr marL="571500" indent="-571500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Generate real-time alerts for security incidents.</a:t>
            </a:r>
          </a:p>
          <a:p>
            <a:pPr marL="571500" indent="-571500"/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Provide a centralized dashboard for monitoring virtual infrastructure.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D99580-F823-51F5-B9AB-6BBA8757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94415-144E-4142-4A2F-785DA5EB101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853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AC9DDE-D53B-40BE-EFD8-9C6D4B24ED12}"/>
              </a:ext>
            </a:extLst>
          </p:cNvPr>
          <p:cNvSpPr txBox="1">
            <a:spLocks/>
          </p:cNvSpPr>
          <p:nvPr/>
        </p:nvSpPr>
        <p:spPr>
          <a:xfrm>
            <a:off x="631916" y="244648"/>
            <a:ext cx="1092816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Existing System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2FC52E-6A72-DF13-563A-338C64D28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787768"/>
              </p:ext>
            </p:extLst>
          </p:nvPr>
        </p:nvGraphicFramePr>
        <p:xfrm>
          <a:off x="2723964" y="2296304"/>
          <a:ext cx="6744072" cy="2983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2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2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6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62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virtualization platforms provide:</a:t>
                      </a:r>
                    </a:p>
                    <a:p>
                      <a:pPr marL="457200" indent="-457200" algn="l">
                        <a:buFont typeface="Wingdings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VM isolation </a:t>
                      </a:r>
                    </a:p>
                    <a:p>
                      <a:pPr marL="457200" indent="-457200" algn="l">
                        <a:buFont typeface="Wingdings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firewall protection </a:t>
                      </a:r>
                    </a:p>
                    <a:p>
                      <a:pPr marL="457200" indent="-457200" algn="l">
                        <a:buFont typeface="Wingdings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hypervisor monitoring </a:t>
                      </a:r>
                    </a:p>
                    <a:p>
                      <a:pPr marL="457200" indent="-457200" algn="l">
                        <a:buFont typeface="Wingdings" pitchFamily="2" charset="2"/>
                        <a:buChar char="Ø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log analysis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visibility into hypervisor activities 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attack detection 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false positives </a:t>
                      </a:r>
                    </a:p>
                    <a:p>
                      <a:pPr marL="342900" indent="-342900">
                        <a:buFont typeface="Wingdings" pitchFamily="2" charset="2"/>
                        <a:buChar char="Ø"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centralized monitoring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8B4B3C2-55F0-FF69-4A65-E8015F0AD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DF784-6129-2EA9-74CE-3F39C863075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520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7CEA9C-8AEB-6B94-A893-4CF6F0D074B4}"/>
              </a:ext>
            </a:extLst>
          </p:cNvPr>
          <p:cNvSpPr txBox="1">
            <a:spLocks/>
          </p:cNvSpPr>
          <p:nvPr/>
        </p:nvSpPr>
        <p:spPr>
          <a:xfrm>
            <a:off x="0" y="620688"/>
            <a:ext cx="12192000" cy="938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Proposed System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EA52D70-172E-D842-6ABB-DCCD3AAAE9E7}"/>
              </a:ext>
            </a:extLst>
          </p:cNvPr>
          <p:cNvSpPr txBox="1">
            <a:spLocks/>
          </p:cNvSpPr>
          <p:nvPr/>
        </p:nvSpPr>
        <p:spPr>
          <a:xfrm>
            <a:off x="3175296" y="2793512"/>
            <a:ext cx="6408712" cy="2592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proposed system integrates: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Secure VM isolation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Hypervisor-level monitoring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Intrusion Detection System (Snort)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Python-based monitoring scripts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Grafana dashboard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Automated incident alerting</a:t>
            </a:r>
          </a:p>
          <a:p>
            <a:pPr marL="457200" indent="-457200">
              <a:buFont typeface="Wingdings" pitchFamily="2" charset="2"/>
              <a:buChar char="Ø"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FED089-F5FC-95EF-45B4-D02414342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D74357-BDA7-4CB0-3C36-B1A15AC59AD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848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183339-B61A-6ED7-129F-2098B054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6568" y="2588070"/>
            <a:ext cx="45720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</a:t>
            </a:r>
            <a:r>
              <a:rPr lang="en-IN" b="1" dirty="0" err="1"/>
              <a:t>ystem</a:t>
            </a:r>
            <a:r>
              <a:rPr lang="en-IN" b="1" dirty="0"/>
              <a:t> Architecture</a:t>
            </a:r>
          </a:p>
        </p:txBody>
      </p:sp>
      <p:pic>
        <p:nvPicPr>
          <p:cNvPr id="5" name="Picture 2" descr="C:\Users\BRIJESH\Desktop\cloud cap_.png">
            <a:extLst>
              <a:ext uri="{FF2B5EF4-FFF2-40B4-BE49-F238E27FC236}">
                <a16:creationId xmlns:a16="http://schemas.microsoft.com/office/drawing/2014/main" id="{EF6D79E4-5D5F-BFAA-09A4-37F85DC01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76" y="378236"/>
            <a:ext cx="5413216" cy="610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DCCB9E-9B28-C987-D2F5-4E98EFB9C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B12E6-3DA7-353B-051D-8E9397129DA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43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3DED99-B6C2-D17C-D833-18A5E543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72" y="324942"/>
            <a:ext cx="8801056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Module 1: VM Isolation and Access Control</a:t>
            </a:r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05F6B0-DD8E-68C8-574B-09F4BBBAE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72" y="1934286"/>
            <a:ext cx="880105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To establish strong isolation between virtual machines and enforce secure access control policies that prevent unauthorized communication and cross-VM attacks.</a:t>
            </a:r>
          </a:p>
          <a:p>
            <a:r>
              <a:rPr lang="en-IN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Functionalities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Create and configure multiple virtual machines using KVM/VirtualBox.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Implement VM isolation through virtual networking and hypervisor configurations.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Apply Role-Based Access Control (RBAC) for administrators and users.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Restrict unauthorized VM-to-VM communication using firewall rules and security groups.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Monitor resource allocation (CPU, Memory, Storage, Network) to prevent resource abuse.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Prevent privilege escalation and unauthorized access to host resources.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E94F2-1050-5530-19C0-9768C9DCA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FEFF3C-711B-C3B7-F492-C1C6674537E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7002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EFEC17-A7BD-8313-EDC0-9DFB91F5553C}"/>
              </a:ext>
            </a:extLst>
          </p:cNvPr>
          <p:cNvSpPr txBox="1"/>
          <p:nvPr/>
        </p:nvSpPr>
        <p:spPr>
          <a:xfrm>
            <a:off x="3906774" y="1801368"/>
            <a:ext cx="66454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Virtual Machine configurations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User authentication details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Hypervisor security policies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Network access rules </a:t>
            </a:r>
          </a:p>
          <a:p>
            <a:pPr>
              <a:buNone/>
            </a:pPr>
            <a:r>
              <a:rPr lang="en-IN" b="1" dirty="0"/>
              <a:t>Outputs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Securely isolated VMs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Authorized resource access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Blocked unauthorized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Isolation status reports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2563D-112E-89C2-EECA-85B617ACE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8723FE-B872-873F-0091-7F469FB3241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323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FB8D-F172-0A67-E5E1-BC826B4F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275" y="365125"/>
            <a:ext cx="9210894" cy="1325563"/>
          </a:xfrm>
        </p:spPr>
        <p:txBody>
          <a:bodyPr/>
          <a:lstStyle/>
          <a:p>
            <a:pPr algn="ctr"/>
            <a:r>
              <a:rPr lang="en-IN" b="1" dirty="0"/>
              <a:t>Module 2: Hypervisor-level Threat Monitoring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7FADC-9F3C-68F0-C30E-7C1AA80830D9}"/>
              </a:ext>
            </a:extLst>
          </p:cNvPr>
          <p:cNvSpPr txBox="1"/>
          <p:nvPr/>
        </p:nvSpPr>
        <p:spPr>
          <a:xfrm>
            <a:off x="1810513" y="2122448"/>
            <a:ext cx="8677656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continuously monitor hypervisor activities and detect virtualization-layer attacks in real time using intrusion detection and anomaly analysis techniques.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logs from the hypervisor and virtual machines.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CPU, memory, disk, and network activities.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VM Escape attacks.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Side-Channel attacks through abnormal resource usage.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privilege escalation attempts.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logs using Snort IDS and Python monitoring scripts.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anomaly detection based on predefined thresholds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threat severity levels (Low, Medium, High, Critical).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6D3F7-7F32-1566-26E0-AE816F595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C238E1-FF33-7E5F-76E5-918EC01D4FC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9886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D205C5-F2E6-D6EB-5881-3BB36EB8EC20}"/>
              </a:ext>
            </a:extLst>
          </p:cNvPr>
          <p:cNvSpPr txBox="1"/>
          <p:nvPr/>
        </p:nvSpPr>
        <p:spPr>
          <a:xfrm>
            <a:off x="3047238" y="1859340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Hypervisor logs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VM activity logs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Network traffic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System resource utilization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IDS alerts </a:t>
            </a:r>
          </a:p>
          <a:p>
            <a:pPr>
              <a:buNone/>
            </a:pPr>
            <a:r>
              <a:rPr lang="en-IN" b="1" dirty="0"/>
              <a:t>Outputs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Detected security threats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Attack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Risk severity reports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Event logs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AD7C6-CC3B-1CBE-6E5A-C662721A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ECBC8-70A4-997F-200D-D331E22AAF2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8640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6C83-F56B-2359-51E0-CD5F2E27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915" y="365125"/>
            <a:ext cx="9126094" cy="1325563"/>
          </a:xfrm>
        </p:spPr>
        <p:txBody>
          <a:bodyPr/>
          <a:lstStyle/>
          <a:p>
            <a:pPr algn="ctr"/>
            <a:r>
              <a:rPr lang="en-IN" b="1" dirty="0"/>
              <a:t>Module 3: Incident Alerting &amp; Reporting Dashboard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2B2E3-A342-0EF7-5A8C-6CF0956DE57A}"/>
              </a:ext>
            </a:extLst>
          </p:cNvPr>
          <p:cNvSpPr txBox="1"/>
          <p:nvPr/>
        </p:nvSpPr>
        <p:spPr>
          <a:xfrm>
            <a:off x="2084832" y="2201454"/>
            <a:ext cx="82021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provide centralized visualization of detected threats, generate real-time alerts, and produce security reports for efficient incident response.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security events from monitoring components.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real-time alerts for suspicious activities.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VM health and security status using Grafana dashboards.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attack trends and system performance.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historical security logs for forensic analysis.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daily, weekly, and monthly security reports.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 administrators through Email, SMS, or webhook alerts.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audit logs for compliance and investigation.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B5887-DB58-D64B-6E08-E8399F6EC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8872"/>
            <a:ext cx="1133475" cy="1343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4CFD1F-41C5-072B-9B36-707888661CA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1867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5F51E-D546-B09F-DA3F-D0B196A6CD11}"/>
              </a:ext>
            </a:extLst>
          </p:cNvPr>
          <p:cNvSpPr txBox="1"/>
          <p:nvPr/>
        </p:nvSpPr>
        <p:spPr>
          <a:xfrm>
            <a:off x="4464558" y="2098423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IDS alerts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Hypervisor monitoring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Security logs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System performance metrics </a:t>
            </a:r>
          </a:p>
          <a:p>
            <a:pPr>
              <a:buNone/>
            </a:pPr>
            <a:r>
              <a:rPr lang="en-IN" b="1" dirty="0"/>
              <a:t>Outputs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Live Grafana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Incident notifications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Security analytics reports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Historical event 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8FAF6-9974-FF9C-4BD5-8A47B66FE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D53D65-0DE6-07B7-244B-60DD9448417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8871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5269F8-653D-5A5E-363D-1EEF899B181D}"/>
              </a:ext>
            </a:extLst>
          </p:cNvPr>
          <p:cNvSpPr txBox="1"/>
          <p:nvPr/>
        </p:nvSpPr>
        <p:spPr>
          <a:xfrm>
            <a:off x="0" y="1022342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Technologies Used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3789E8-FA91-E810-45CF-1314AD41C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144093"/>
              </p:ext>
            </p:extLst>
          </p:nvPr>
        </p:nvGraphicFramePr>
        <p:xfrm>
          <a:off x="2032000" y="2512060"/>
          <a:ext cx="8127999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879057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4802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92097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1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KVM / VirtualBox 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Snort IDS 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Python 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Grafana 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Python 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Shell Scripting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ü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System Logs 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Event Logs </a:t>
                      </a:r>
                    </a:p>
                    <a:p>
                      <a:pPr marL="285750" lvl="0" indent="-285750" algn="l">
                        <a:buFont typeface="Wingdings" panose="05000000000000000000" pitchFamily="2" charset="2"/>
                        <a:buChar char="ü"/>
                      </a:pPr>
                      <a:r>
                        <a:rPr lang="en-IN" dirty="0"/>
                        <a:t>Hypervisor Logs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ü"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17911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546528B-36AA-2893-F04D-EAE25D9F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AF56F1-6083-C360-D4D0-3AF76CF6A72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380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9DB83-D403-8BA0-E5A1-AF1BE5578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2309812"/>
            <a:ext cx="12115800" cy="2238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185AFF-28FA-8874-E9D8-D425B842323E}"/>
              </a:ext>
            </a:extLst>
          </p:cNvPr>
          <p:cNvSpPr txBox="1"/>
          <p:nvPr/>
        </p:nvSpPr>
        <p:spPr>
          <a:xfrm>
            <a:off x="0" y="802886"/>
            <a:ext cx="12153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3BCC53-C7B7-053C-9CF0-29DE1BF9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AD7A24-4C19-CE7B-F58C-8C513A3B76D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8881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831D-68BD-5016-CE2F-41DA14F2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Performance Parameters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4934A9-0D32-D2BE-D8ED-04D27A9951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576782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322614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57358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920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Percentage of attacks correctly detected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983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False Positive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Incorrect alerts generated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302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Isolation Breach Attempts Blocked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 of prevented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944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 taken to generate alert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341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Continuous monitoring uptime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49868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93350A0-E914-FE61-3B73-A6DC3C4BF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61C6-3EBE-F6A1-2A05-3A1D0F6F606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5033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68D4-603B-646D-D60E-8B14D2C13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6406"/>
            <a:ext cx="6528816" cy="1325563"/>
          </a:xfrm>
        </p:spPr>
        <p:txBody>
          <a:bodyPr/>
          <a:lstStyle/>
          <a:p>
            <a:pPr algn="ctr"/>
            <a:r>
              <a:rPr lang="en-IN" b="1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7B1F5-49C3-7214-72DF-DD80EBEC0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96" y="2429129"/>
            <a:ext cx="5471160" cy="3688207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VM isolation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incident response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false positives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virtualization environment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monitoring dashboard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overall cloud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FFD7B-4BD5-05B3-E31A-94194BC2F956}"/>
              </a:ext>
            </a:extLst>
          </p:cNvPr>
          <p:cNvSpPr txBox="1"/>
          <p:nvPr/>
        </p:nvSpPr>
        <p:spPr>
          <a:xfrm>
            <a:off x="6668262" y="2429129"/>
            <a:ext cx="52372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threat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anomaly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(AWS/OpenStack)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threat response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SIEM platforms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Multi-hypervisor 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1FBAE-435D-D3C2-ABCB-15EAD383D006}"/>
              </a:ext>
            </a:extLst>
          </p:cNvPr>
          <p:cNvSpPr txBox="1"/>
          <p:nvPr/>
        </p:nvSpPr>
        <p:spPr>
          <a:xfrm>
            <a:off x="6528816" y="1298720"/>
            <a:ext cx="52372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/>
              <a:t>Future 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5BFCE-BE44-A3C3-C0F1-BAD11BCD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934941" cy="1107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DD7B6E-5E2A-A008-D314-94756EE25F9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0839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9178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579E486-0B64-F61B-A7F2-1B99DA5A9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855108"/>
              </p:ext>
            </p:extLst>
          </p:nvPr>
        </p:nvGraphicFramePr>
        <p:xfrm>
          <a:off x="1097280" y="1469009"/>
          <a:ext cx="9582912" cy="49708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97152">
                  <a:extLst>
                    <a:ext uri="{9D8B030D-6E8A-4147-A177-3AD203B41FA5}">
                      <a16:colId xmlns:a16="http://schemas.microsoft.com/office/drawing/2014/main" val="911320470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662364921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1232434086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3384835978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2647166564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3920058363"/>
                    </a:ext>
                  </a:extLst>
                </a:gridCol>
              </a:tblGrid>
              <a:tr h="253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 / Study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Focus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Gap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156029208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HClave: An Isolated Execution Environment Design for Hypervisor Runtime Security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Isolated execution environments for hypervisors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Limits the impact of each VM on the virtualization layer and reduces the trusted computing base.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hypervisor runtime isolation rather than complete threat detection and alerting. 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409648480"/>
                  </a:ext>
                </a:extLst>
              </a:tr>
              <a:tr h="1015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of Morpheus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Morpheus: An Efficient Timing-Based Attestation Framework for Safeguarding Hypervisor Integrity with Dynamic Trust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Timing-based hypervisor integrity verification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 efficient approach for detecting compromised hypervisor environments.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hypervisor integrity rather than complete VM-level attack prevention. 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3840235429"/>
                  </a:ext>
                </a:extLst>
              </a:tr>
              <a:tr h="1015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of </a:t>
                      </a: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vDefender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vDefender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An Explainable and Introspection-Based Approach for Identifying Emerging Malware Behaviour at Hypervisor-Layer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Hypervisor introspection and malware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analysis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fine-grained monitoring of VM processes from the hypervisor layer and detects malicious behavior.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targets malware behavior; broader cross-VM attacks require additional monitoring mechanisms. 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2553461074"/>
                  </a:ext>
                </a:extLst>
              </a:tr>
              <a:tr h="10153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of Temporal Isolation Study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Isolation Assessment in Virtualized Safety-Critical Mixed-Criticality Systems: A Case Study on Xen Hypervisor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isolation analysis using Xen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methods for assessing and improving temporal isolation in virtualized systems.</a:t>
                      </a:r>
                    </a:p>
                  </a:txBody>
                  <a:tcPr marL="36261" marR="36261" marT="18131" marB="18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timing isolation rather than security incident detection and alerting. </a:t>
                      </a:r>
                    </a:p>
                  </a:txBody>
                  <a:tcPr marL="36261" marR="36261" marT="18131" marB="18131" anchor="ctr"/>
                </a:tc>
                <a:extLst>
                  <a:ext uri="{0D108BD9-81ED-4DB2-BD59-A6C34878D82A}">
                    <a16:rowId xmlns:a16="http://schemas.microsoft.com/office/drawing/2014/main" val="61308424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E196C2C-8202-9CC7-4EA7-EBEE91439988}"/>
              </a:ext>
            </a:extLst>
          </p:cNvPr>
          <p:cNvSpPr txBox="1"/>
          <p:nvPr/>
        </p:nvSpPr>
        <p:spPr>
          <a:xfrm>
            <a:off x="0" y="501134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89630-D907-9991-CE1C-5B4802B17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00" y="190933"/>
            <a:ext cx="1004167" cy="1189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9259D3-6712-C282-38EC-86DCAAE0E1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984" y="190933"/>
            <a:ext cx="1347216" cy="1172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4277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0C9C17-B622-FD50-5D5D-481C452F7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08151" y="1464796"/>
            <a:ext cx="9194145" cy="392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3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928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Secure Multi-VM Isolation and Threat Detection System in Virtualized Environments</vt:lpstr>
      <vt:lpstr>PowerPoint Presentation</vt:lpstr>
      <vt:lpstr>PowerPoint Presentation</vt:lpstr>
      <vt:lpstr>PowerPoint Presentation</vt:lpstr>
      <vt:lpstr>PowerPoint Presentation</vt:lpstr>
      <vt:lpstr>System Architecture</vt:lpstr>
      <vt:lpstr>Module 1: VM Isolation and Access Control</vt:lpstr>
      <vt:lpstr>PowerPoint Presentation</vt:lpstr>
      <vt:lpstr>Module 2: Hypervisor-level Threat Monitoring Module</vt:lpstr>
      <vt:lpstr>PowerPoint Presentation</vt:lpstr>
      <vt:lpstr>Module 3: Incident Alerting &amp; Reporting Dashboard Module</vt:lpstr>
      <vt:lpstr>PowerPoint Presentation</vt:lpstr>
      <vt:lpstr>PowerPoint Presentation</vt:lpstr>
      <vt:lpstr>PowerPoint Presentation</vt:lpstr>
      <vt:lpstr>Performance Parameters</vt:lpstr>
      <vt:lpstr>Expected Outcomes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Magesh S</dc:creator>
  <cp:lastModifiedBy>Magesh S</cp:lastModifiedBy>
  <cp:revision>3</cp:revision>
  <dcterms:created xsi:type="dcterms:W3CDTF">2026-08-23T15:07:32Z</dcterms:created>
  <dcterms:modified xsi:type="dcterms:W3CDTF">2026-09-01T04:45:15Z</dcterms:modified>
</cp:coreProperties>
</file>